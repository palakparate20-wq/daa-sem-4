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tkinson Hyperlegible Next"/>
      <p:regular r:id="rId201314"/>
    </p:embeddedFont>
    <p:embeddedFont>
      <p:font typeface="Atkinson Hyperlegible Next Bold"/>
      <p:regular r:id="rId201315"/>
    </p:embeddedFont>
    <p:embeddedFont>
      <p:font typeface="Atkinson Hyperlegible Next ExtraBold"/>
      <p:regular r:id="rId201316"/>
    </p:embeddedFont>
    <p:embeddedFont>
      <p:font typeface="Martian Mono Medium"/>
      <p:regular r:id="rId201317"/>
    </p:embeddedFont>
    <p:embeddedFont>
      <p:font typeface="Sora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Bellman–Ford as the shortest-path algorithm that remains dependable when some edge weights are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one source vertex. Bellman–Ford propagates better distance estimates through the graph and explicitly checks whether a negative cycle prevents a finite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greedy assumption Dijkstra needs: once a vertex is finalized, no later route should improve it. A negative edge breaks that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Relaxation is the atomic operation. It does not choose a permanent answer; it keeps improving the current estimate whenever an edge reveals a cheaper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can be at most V minus 1 edges in a simple shortest path. The extra scan is not another relaxation phase: it is a certificate that a reachable negative cycle still improves a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improving edge A to B. Its negative weight changes B from 5 to 2, which then makes the route from B to C cost 5. The shortest route to C is S→A→B→C.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guard against infinity. An unreachable vertex must not participate in arithmetic. The final scan reuses the same relaxation condition, but interprets an improvement as evidence of a reachable negative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working memory from the graph representation. Bellman–Ford stores per-vertex distance state in O(V), while an edge list contributes O(E) storage for the graph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Bellman–Ford as a deliberate trade-off. It gives up speed to support a broader class of weighted directed graphs and to detect a condition that makes finite shortest paths impossible.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three-part mental model: initialize distances, repeatedly relax edges, then scan once more for a negative-cycle signal. Invite questions about the worked graph or pseudocode.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0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80" y="914400"/>
            <a:ext cx="6603835" cy="3111500"/>
          </a:xfrm>
          <a:prstGeom prst="roundRect">
            <a:avLst>
              <a:gd name="adj" fmla="val 1347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2173" y="1161256"/>
            <a:ext cx="665463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12192B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DESIGN AND ANALYSIS OF ALGORITHMS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92173" y="1585913"/>
            <a:ext cx="6045049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0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Bellman–Ford</a:t>
            </a:r>
            <a:endParaRPr lang="en-US" sz="52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200" spc="-10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Algorithm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2173" y="3106737"/>
            <a:ext cx="6045049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Single-Source Shortest Path with Negative Edge Weights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12780" y="5207000"/>
            <a:ext cx="4698882" cy="793750"/>
          </a:xfrm>
          <a:prstGeom prst="roundRect">
            <a:avLst>
              <a:gd name="adj" fmla="val 528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90575" y="5352256"/>
            <a:ext cx="4343291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12192B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 5–7 minute classroom walkthrough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583679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CORE PROMISE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5227209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Bellman–Ford finds shortest paths even with negative edges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2691309"/>
            <a:ext cx="5227209" cy="240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Computes shortest distances from one source to every reachable vertex in a weighted graph.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Supports negative edge weights.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Detects reachable negative-weight cycles.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48563" y="3398441"/>
            <a:ext cx="2136424" cy="20340"/>
          </a:xfrm>
          <a:prstGeom prst="line">
            <a:avLst/>
          </a:prstGeom>
          <a:solidFill>
            <a:srgbClr val="D9471A"/>
          </a:solidFill>
          <a:ln w="38100">
            <a:solidFill>
              <a:srgbClr val="D947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9920000">
            <a:off x="8448563" y="3398441"/>
            <a:ext cx="1119060" cy="20340"/>
          </a:xfrm>
          <a:prstGeom prst="line">
            <a:avLst/>
          </a:prstGeom>
          <a:solidFill>
            <a:srgbClr val="D9471A"/>
          </a:solidFill>
          <a:ln w="38100">
            <a:solidFill>
              <a:srgbClr val="137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680000">
            <a:off x="9567722" y="2849067"/>
            <a:ext cx="1017364" cy="20340"/>
          </a:xfrm>
          <a:prstGeom prst="line">
            <a:avLst/>
          </a:prstGeom>
          <a:solidFill>
            <a:srgbClr val="D9471A"/>
          </a:solidFill>
          <a:ln w="38100">
            <a:solidFill>
              <a:srgbClr val="137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4731" y="3154263"/>
            <a:ext cx="488342" cy="488355"/>
          </a:xfrm>
          <a:prstGeom prst="ellipse">
            <a:avLst/>
          </a:prstGeom>
          <a:solidFill>
            <a:srgbClr val="F4B49F"/>
          </a:solidFill>
          <a:ln w="38100">
            <a:solidFill>
              <a:srgbClr val="D947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3551" y="2604889"/>
            <a:ext cx="488342" cy="48835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47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1593" y="3154263"/>
            <a:ext cx="488342" cy="48835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65677" y="3276507"/>
            <a:ext cx="100645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064497" y="2727033"/>
            <a:ext cx="100645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122540" y="3276507"/>
            <a:ext cx="100645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v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799491" y="2969022"/>
            <a:ext cx="107758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+4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918650" y="2969022"/>
            <a:ext cx="107758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−2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5923211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WHY THIS ALGORITHM EXISTS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5313626" cy="13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Negative edges make the shortest-path problem harder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2692261"/>
            <a:ext cx="5313626" cy="1132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Single-source shortest path asks for the minimum-cost route from source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to every vertex.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6565" y="3100189"/>
            <a:ext cx="161921" cy="3465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182" y="3893741"/>
            <a:ext cx="5313626" cy="233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Negative weights can make a later route cheaper than an earlier choice.</a:t>
            </a:r>
            <a:endParaRPr lang="en-US" sz="2200" dirty="0"/>
          </a:p>
          <a:p>
            <a:pPr algn="l" marL="447040" indent="-447040">
              <a:lnSpc>
                <a:spcPct val="113000"/>
              </a:lnSpc>
              <a:buSzPct val="100000"/>
              <a:buChar char="•"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Dijkstra is not generally correct when negative edges are present; Bellman–Ford remains correct for graphs without reachable negative cycles.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866" y="711200"/>
            <a:ext cx="698483" cy="698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51866" y="1893887"/>
            <a:ext cx="3728647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Bellman–Ford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751866" y="2436177"/>
            <a:ext cx="3728647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Handles negative edges and tests for reachable negative cycles.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866" y="3817441"/>
            <a:ext cx="279393" cy="279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51866" y="4581029"/>
            <a:ext cx="3728647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Dijkstra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751866" y="5123319"/>
            <a:ext cx="3728647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Fast choice for graphs whose edge weights are nonnegative.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1137891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LOCAL MOVE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1076933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Relaxation improves a distance estimate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1182" y="1813620"/>
            <a:ext cx="5843541" cy="4333180"/>
          </a:xfrm>
          <a:prstGeom prst="roundRect">
            <a:avLst>
              <a:gd name="adj" fmla="val 967"/>
            </a:avLst>
          </a:prstGeom>
          <a:noFill/>
          <a:ln w="38099">
            <a:solidFill>
              <a:srgbClr val="E0C1B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876" y="3039765"/>
            <a:ext cx="5310154" cy="9634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876" y="4166056"/>
            <a:ext cx="5310154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For edge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with weight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replace a worse estimate with a better one.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35" y="4196854"/>
            <a:ext cx="666039" cy="346571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257" y="4196854"/>
            <a:ext cx="236631" cy="346571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011812" y="2790627"/>
            <a:ext cx="272349" cy="272355"/>
          </a:xfrm>
          <a:prstGeom prst="ellipse">
            <a:avLst/>
          </a:prstGeom>
          <a:solidFill>
            <a:srgbClr val="B83C16"/>
          </a:solidFill>
          <a:ln/>
        </p:spPr>
      </p:sp>
      <p:sp>
        <p:nvSpPr>
          <p:cNvPr id="10" name="Text 5"/>
          <p:cNvSpPr/>
          <p:nvPr/>
        </p:nvSpPr>
        <p:spPr>
          <a:xfrm>
            <a:off x="7112120" y="2848173"/>
            <a:ext cx="68131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7436557" y="2696726"/>
            <a:ext cx="4043857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Initialize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2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346" y="2727523"/>
            <a:ext cx="1277211" cy="34657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011812" y="3321348"/>
            <a:ext cx="272349" cy="272355"/>
          </a:xfrm>
          <a:prstGeom prst="ellipse">
            <a:avLst/>
          </a:prstGeom>
          <a:solidFill>
            <a:srgbClr val="B83C16"/>
          </a:solidFill>
          <a:ln/>
        </p:spPr>
      </p:sp>
      <p:sp>
        <p:nvSpPr>
          <p:cNvPr id="14" name="Text 8"/>
          <p:cNvSpPr/>
          <p:nvPr/>
        </p:nvSpPr>
        <p:spPr>
          <a:xfrm>
            <a:off x="7101305" y="3378895"/>
            <a:ext cx="7028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7436557" y="3227447"/>
            <a:ext cx="4043857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Initialize every other distance to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2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557" y="3635375"/>
            <a:ext cx="306876" cy="327521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011812" y="4228009"/>
            <a:ext cx="272349" cy="272355"/>
          </a:xfrm>
          <a:prstGeom prst="ellipse">
            <a:avLst/>
          </a:prstGeom>
          <a:solidFill>
            <a:srgbClr val="B83C16"/>
          </a:solidFill>
          <a:ln/>
        </p:spPr>
      </p:sp>
      <p:sp>
        <p:nvSpPr>
          <p:cNvPr id="18" name="Text 11"/>
          <p:cNvSpPr/>
          <p:nvPr/>
        </p:nvSpPr>
        <p:spPr>
          <a:xfrm>
            <a:off x="7099916" y="4285555"/>
            <a:ext cx="70562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7436557" y="4134108"/>
            <a:ext cx="4043857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Relaxing an edge lowers the label when a cheaper route appears.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1137891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FULL PROCEDURE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1076933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Repeat relaxation, then test for a negative cycle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82" y="2623245"/>
            <a:ext cx="3403515" cy="1428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0575" y="3740845"/>
            <a:ext cx="284472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4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Initialize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90575" y="4257675"/>
            <a:ext cx="2844729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Source is 0; all others are ∞.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090" y="2204145"/>
            <a:ext cx="3403515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73483" y="3321745"/>
            <a:ext cx="284472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4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Relax all edges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673483" y="3838575"/>
            <a:ext cx="2844729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Repeat for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iterations.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963" y="3870325"/>
            <a:ext cx="723783" cy="346571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98" y="1785045"/>
            <a:ext cx="3403515" cy="1428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56391" y="2902645"/>
            <a:ext cx="284472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4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Check updates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8356391" y="3419475"/>
            <a:ext cx="2844729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No update? Stop early.</a:t>
            </a:r>
            <a:endParaRPr lang="en-US" sz="2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82" y="6408936"/>
            <a:ext cx="3403515" cy="1428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90575" y="7526536"/>
            <a:ext cx="284472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4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Scan once more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990575" y="8043366"/>
            <a:ext cx="2844729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An improvement means a reachable negative cycle.</a:t>
            </a:r>
            <a:endParaRPr lang="en-US" sz="2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4090" y="5989836"/>
            <a:ext cx="3403515" cy="14287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673483" y="7107436"/>
            <a:ext cx="2844729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spc="-4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Return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4673483" y="7624266"/>
            <a:ext cx="2844729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Final distances or a warning.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6032349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WORKED EXAMPLE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5422764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S reaches C most cheaply through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1182" y="2253417"/>
            <a:ext cx="5422764" cy="75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Directed edges: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291" y="2284214"/>
            <a:ext cx="1346861" cy="346571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70" y="2284214"/>
            <a:ext cx="1363033" cy="346571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662535"/>
            <a:ext cx="1597183" cy="346571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284" y="2662535"/>
            <a:ext cx="1378412" cy="346571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614" y="2662535"/>
            <a:ext cx="1394584" cy="34657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11182" y="3278188"/>
            <a:ext cx="5422764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Start: </a:t>
            </a:r>
            <a:pPr algn="l" indent="0" marL="0">
              <a:lnSpc>
                <a:spcPct val="104000"/>
              </a:lnSpc>
              <a:buNone/>
            </a:pPr>
            <a:r>
              <a:rPr lang="en-US" sz="1600" i="1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, </a:t>
            </a:r>
            <a:pPr algn="l" indent="0" marL="0">
              <a:lnSpc>
                <a:spcPct val="104000"/>
              </a:lnSpc>
              <a:buNone/>
            </a:pPr>
            <a:r>
              <a:rPr lang="en-US" sz="1600" i="1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, </a:t>
            </a:r>
            <a:pPr algn="l" indent="0" marL="0">
              <a:lnSpc>
                <a:spcPct val="104000"/>
              </a:lnSpc>
              <a:buNone/>
            </a:pPr>
            <a:r>
              <a:rPr lang="en-US" sz="1600" i="1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, </a:t>
            </a:r>
            <a:pPr algn="l" indent="0" marL="0">
              <a:lnSpc>
                <a:spcPct val="104000"/>
              </a:lnSpc>
              <a:buNone/>
            </a:pPr>
            <a:r>
              <a:rPr lang="en-US" sz="1600" i="1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     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.</a:t>
            </a:r>
            <a:endParaRPr lang="en-US" sz="170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9386" y="3285331"/>
            <a:ext cx="854153" cy="265807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4483" y="3285331"/>
            <a:ext cx="976487" cy="265807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13" y="3285331"/>
            <a:ext cx="988889" cy="265807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182" y="3579713"/>
            <a:ext cx="984126" cy="265807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711182" y="4099520"/>
            <a:ext cx="5422764" cy="62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After relaxation: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;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            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;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              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1800" dirty="0"/>
          </a:p>
        </p:txBody>
      </p:sp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934" y="4124920"/>
            <a:ext cx="894435" cy="287040"/>
          </a:xfrm>
          <a:prstGeom prst="rect">
            <a:avLst/>
          </a:prstGeom>
        </p:spPr>
      </p:pic>
      <p:pic>
        <p:nvPicPr>
          <p:cNvPr id="1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1384" y="4124920"/>
            <a:ext cx="2493305" cy="287040"/>
          </a:xfrm>
          <a:prstGeom prst="rect">
            <a:avLst/>
          </a:prstGeom>
        </p:spPr>
      </p:pic>
      <p:pic>
        <p:nvPicPr>
          <p:cNvPr id="1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182" y="4437360"/>
            <a:ext cx="2872708" cy="287040"/>
          </a:xfrm>
          <a:prstGeom prst="rect">
            <a:avLst/>
          </a:prstGeom>
        </p:spPr>
      </p:pic>
      <p:sp>
        <p:nvSpPr>
          <p:cNvPr id="19" name="Text 5"/>
          <p:cNvSpPr/>
          <p:nvPr/>
        </p:nvSpPr>
        <p:spPr>
          <a:xfrm>
            <a:off x="711182" y="4975225"/>
            <a:ext cx="6032349" cy="312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Final: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, </a:t>
            </a:r>
            <a:pPr algn="l" indent="0" marL="0">
              <a:lnSpc>
                <a:spcPct val="113000"/>
              </a:lnSpc>
              <a:buNone/>
            </a:pPr>
            <a:r>
              <a:rPr lang="en-US" sz="17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.</a:t>
            </a:r>
            <a:endParaRPr lang="en-US" sz="1800" dirty="0"/>
          </a:p>
        </p:txBody>
      </p:sp>
      <p:pic>
        <p:nvPicPr>
          <p:cNvPr id="2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4918" y="5000625"/>
            <a:ext cx="876675" cy="287040"/>
          </a:xfrm>
          <a:prstGeom prst="rect">
            <a:avLst/>
          </a:prstGeom>
        </p:spPr>
      </p:pic>
      <p:pic>
        <p:nvPicPr>
          <p:cNvPr id="2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53608" y="5000625"/>
            <a:ext cx="894435" cy="287040"/>
          </a:xfrm>
          <a:prstGeom prst="rect">
            <a:avLst/>
          </a:prstGeom>
        </p:spPr>
      </p:pic>
      <p:pic>
        <p:nvPicPr>
          <p:cNvPr id="2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60058" y="5000625"/>
            <a:ext cx="907630" cy="287040"/>
          </a:xfrm>
          <a:prstGeom prst="rect">
            <a:avLst/>
          </a:prstGeom>
        </p:spPr>
      </p:pic>
      <p:pic>
        <p:nvPicPr>
          <p:cNvPr id="2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9704" y="5000625"/>
            <a:ext cx="902471" cy="287040"/>
          </a:xfrm>
          <a:prstGeom prst="rect">
            <a:avLst/>
          </a:prstGeom>
        </p:spPr>
      </p:pic>
      <p:sp>
        <p:nvSpPr>
          <p:cNvPr id="24" name="Text 6"/>
          <p:cNvSpPr/>
          <p:nvPr/>
        </p:nvSpPr>
        <p:spPr>
          <a:xfrm>
            <a:off x="711182" y="5538490"/>
            <a:ext cx="5422764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Shortest route to C: S→A→B→C; cost 4 + (−2) + 3 = 5.</a:t>
            </a:r>
            <a:endParaRPr lang="en-US" sz="1800" dirty="0"/>
          </a:p>
        </p:txBody>
      </p:sp>
      <p:sp>
        <p:nvSpPr>
          <p:cNvPr id="25" name="Text 7"/>
          <p:cNvSpPr/>
          <p:nvPr/>
        </p:nvSpPr>
        <p:spPr>
          <a:xfrm>
            <a:off x="8013500" y="4655741"/>
            <a:ext cx="3467013" cy="834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B83B16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Orange: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 improving </a:t>
            </a:r>
            <a:pPr algn="l" indent="0" marL="0">
              <a:lnSpc>
                <a:spcPct val="104000"/>
              </a:lnSpc>
              <a:buNone/>
            </a:pPr>
            <a:r>
              <a:rPr lang="en-US" sz="1600" i="1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    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. 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137A6B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Green: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 final shortest paths.</a:t>
            </a:r>
            <a:endParaRPr lang="en-US" sz="1700" dirty="0"/>
          </a:p>
        </p:txBody>
      </p:sp>
      <p:pic>
        <p:nvPicPr>
          <p:cNvPr id="2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13500" y="4932759"/>
            <a:ext cx="696101" cy="265807"/>
          </a:xfrm>
          <a:prstGeom prst="rect">
            <a:avLst/>
          </a:prstGeom>
        </p:spPr>
      </p:pic>
      <p:sp>
        <p:nvSpPr>
          <p:cNvPr id="27" name="Shape 8"/>
          <p:cNvSpPr/>
          <p:nvPr/>
        </p:nvSpPr>
        <p:spPr>
          <a:xfrm rot="19920000">
            <a:off x="8647392" y="3101975"/>
            <a:ext cx="911301" cy="19745"/>
          </a:xfrm>
          <a:prstGeom prst="line">
            <a:avLst/>
          </a:prstGeom>
          <a:solidFill>
            <a:srgbClr val="D9471A"/>
          </a:solidFill>
          <a:ln w="50800">
            <a:solidFill>
              <a:srgbClr val="137A6B"/>
            </a:solidFill>
            <a:prstDash val="solid"/>
          </a:ln>
        </p:spPr>
      </p:sp>
      <p:sp>
        <p:nvSpPr>
          <p:cNvPr id="28" name="Shape 9"/>
          <p:cNvSpPr/>
          <p:nvPr/>
        </p:nvSpPr>
        <p:spPr>
          <a:xfrm rot="1680000">
            <a:off x="8647392" y="3101975"/>
            <a:ext cx="911301" cy="19745"/>
          </a:xfrm>
          <a:prstGeom prst="line">
            <a:avLst/>
          </a:prstGeom>
          <a:solidFill>
            <a:srgbClr val="D9471A"/>
          </a:solidFill>
          <a:ln w="50800">
            <a:solidFill>
              <a:srgbClr val="137A6B"/>
            </a:solidFill>
            <a:prstDash val="solid"/>
          </a:ln>
        </p:spPr>
      </p:sp>
      <p:sp>
        <p:nvSpPr>
          <p:cNvPr id="29" name="Shape 10"/>
          <p:cNvSpPr/>
          <p:nvPr/>
        </p:nvSpPr>
        <p:spPr>
          <a:xfrm rot="1680000">
            <a:off x="9558793" y="2596753"/>
            <a:ext cx="1030163" cy="19745"/>
          </a:xfrm>
          <a:prstGeom prst="line">
            <a:avLst/>
          </a:prstGeom>
          <a:solidFill>
            <a:srgbClr val="D9471A"/>
          </a:solidFill>
          <a:ln w="50800">
            <a:solidFill>
              <a:srgbClr val="D9471A"/>
            </a:solidFill>
            <a:prstDash val="solid"/>
          </a:ln>
        </p:spPr>
      </p:sp>
      <p:sp>
        <p:nvSpPr>
          <p:cNvPr id="30" name="Shape 11"/>
          <p:cNvSpPr/>
          <p:nvPr/>
        </p:nvSpPr>
        <p:spPr>
          <a:xfrm rot="19920000">
            <a:off x="9558793" y="3607197"/>
            <a:ext cx="1030163" cy="19745"/>
          </a:xfrm>
          <a:prstGeom prst="line">
            <a:avLst/>
          </a:prstGeom>
          <a:solidFill>
            <a:srgbClr val="D9471A"/>
          </a:solidFill>
          <a:ln w="50800">
            <a:solidFill>
              <a:srgbClr val="137A6B"/>
            </a:solidFill>
            <a:prstDash val="solid"/>
          </a:ln>
        </p:spPr>
      </p:sp>
      <p:sp>
        <p:nvSpPr>
          <p:cNvPr id="31" name="Shape 12"/>
          <p:cNvSpPr/>
          <p:nvPr/>
        </p:nvSpPr>
        <p:spPr>
          <a:xfrm>
            <a:off x="10489938" y="3101975"/>
            <a:ext cx="19744" cy="19745"/>
          </a:xfrm>
          <a:prstGeom prst="line">
            <a:avLst/>
          </a:prstGeom>
          <a:solidFill>
            <a:srgbClr val="D9471A"/>
          </a:solidFill>
          <a:ln w="50800">
            <a:solidFill>
              <a:srgbClr val="137A6B"/>
            </a:solidFill>
            <a:prstDash val="solid"/>
          </a:ln>
        </p:spPr>
      </p:sp>
      <p:sp>
        <p:nvSpPr>
          <p:cNvPr id="32" name="Shape 13"/>
          <p:cNvSpPr/>
          <p:nvPr/>
        </p:nvSpPr>
        <p:spPr>
          <a:xfrm>
            <a:off x="8389827" y="2864247"/>
            <a:ext cx="475444" cy="475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33" name="Shape 14"/>
          <p:cNvSpPr/>
          <p:nvPr/>
        </p:nvSpPr>
        <p:spPr>
          <a:xfrm>
            <a:off x="9320972" y="2359025"/>
            <a:ext cx="475444" cy="475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34" name="Shape 15"/>
          <p:cNvSpPr/>
          <p:nvPr/>
        </p:nvSpPr>
        <p:spPr>
          <a:xfrm>
            <a:off x="9320972" y="3369469"/>
            <a:ext cx="475444" cy="475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35" name="Shape 16"/>
          <p:cNvSpPr/>
          <p:nvPr/>
        </p:nvSpPr>
        <p:spPr>
          <a:xfrm>
            <a:off x="10489938" y="2864247"/>
            <a:ext cx="475444" cy="4754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36" name="Text 17"/>
          <p:cNvSpPr/>
          <p:nvPr/>
        </p:nvSpPr>
        <p:spPr>
          <a:xfrm>
            <a:off x="8129583" y="2973189"/>
            <a:ext cx="99593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</a:t>
            </a:r>
            <a:endParaRPr lang="en-US" sz="1400" dirty="0"/>
          </a:p>
        </p:txBody>
      </p:sp>
      <p:sp>
        <p:nvSpPr>
          <p:cNvPr id="37" name="Text 18"/>
          <p:cNvSpPr/>
          <p:nvPr/>
        </p:nvSpPr>
        <p:spPr>
          <a:xfrm>
            <a:off x="9060727" y="2468066"/>
            <a:ext cx="99593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</a:t>
            </a:r>
            <a:endParaRPr lang="en-US" sz="1400" dirty="0"/>
          </a:p>
        </p:txBody>
      </p:sp>
      <p:sp>
        <p:nvSpPr>
          <p:cNvPr id="38" name="Text 19"/>
          <p:cNvSpPr/>
          <p:nvPr/>
        </p:nvSpPr>
        <p:spPr>
          <a:xfrm>
            <a:off x="9060727" y="3478411"/>
            <a:ext cx="99593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B</a:t>
            </a:r>
            <a:endParaRPr lang="en-US" sz="1400" dirty="0"/>
          </a:p>
        </p:txBody>
      </p:sp>
      <p:sp>
        <p:nvSpPr>
          <p:cNvPr id="39" name="Text 20"/>
          <p:cNvSpPr/>
          <p:nvPr/>
        </p:nvSpPr>
        <p:spPr>
          <a:xfrm>
            <a:off x="10229693" y="2973189"/>
            <a:ext cx="995933" cy="240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</a:t>
            </a:r>
            <a:endParaRPr lang="en-US" sz="1400" dirty="0"/>
          </a:p>
        </p:txBody>
      </p:sp>
      <p:sp>
        <p:nvSpPr>
          <p:cNvPr id="40" name="Text 21"/>
          <p:cNvSpPr/>
          <p:nvPr/>
        </p:nvSpPr>
        <p:spPr>
          <a:xfrm>
            <a:off x="8909919" y="2585343"/>
            <a:ext cx="96616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4</a:t>
            </a:r>
            <a:endParaRPr lang="en-US" sz="1700" dirty="0"/>
          </a:p>
        </p:txBody>
      </p:sp>
      <p:sp>
        <p:nvSpPr>
          <p:cNvPr id="41" name="Text 22"/>
          <p:cNvSpPr/>
          <p:nvPr/>
        </p:nvSpPr>
        <p:spPr>
          <a:xfrm>
            <a:off x="8909919" y="3427313"/>
            <a:ext cx="96616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5</a:t>
            </a:r>
            <a:endParaRPr lang="en-US" sz="1700" dirty="0"/>
          </a:p>
        </p:txBody>
      </p:sp>
      <p:sp>
        <p:nvSpPr>
          <p:cNvPr id="42" name="Text 23"/>
          <p:cNvSpPr/>
          <p:nvPr/>
        </p:nvSpPr>
        <p:spPr>
          <a:xfrm>
            <a:off x="9890572" y="2436713"/>
            <a:ext cx="106528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B83B16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−2</a:t>
            </a:r>
            <a:endParaRPr lang="en-US" sz="1700" dirty="0"/>
          </a:p>
        </p:txBody>
      </p:sp>
      <p:sp>
        <p:nvSpPr>
          <p:cNvPr id="43" name="Text 24"/>
          <p:cNvSpPr/>
          <p:nvPr/>
        </p:nvSpPr>
        <p:spPr>
          <a:xfrm>
            <a:off x="9890572" y="3585865"/>
            <a:ext cx="106528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3</a:t>
            </a:r>
            <a:endParaRPr lang="en-US" sz="1700" dirty="0"/>
          </a:p>
        </p:txBody>
      </p:sp>
      <p:sp>
        <p:nvSpPr>
          <p:cNvPr id="44" name="Text 25"/>
          <p:cNvSpPr/>
          <p:nvPr/>
        </p:nvSpPr>
        <p:spPr>
          <a:xfrm>
            <a:off x="10098629" y="2951857"/>
            <a:ext cx="96616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4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9585"/>
            <a:ext cx="1076933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Bellman–Ford pseudocode: three phases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11182" y="1378645"/>
            <a:ext cx="10769331" cy="2042021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54957" y="1596417"/>
            <a:ext cx="10281782" cy="1635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BellmanFord(G, V, E, source):</a:t>
            </a:r>
            <a:endParaRPr lang="en-US" sz="1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Initialize: for each vertex v, dist[v] = infinity; dist[source] = 0</a:t>
            </a:r>
            <a:endParaRPr lang="en-US" sz="1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Relax: repeat V - 1 times; for each edge (u, v, w), if dist[u] != infinity and dist[u] + w &lt; dist[v], set dist[v] = dist[u] + w</a:t>
            </a:r>
            <a:endParaRPr lang="en-US" sz="1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Detect: for each edge (u, v, w), if dist[u] != infinity and dist[u] + w &lt; dist[v], return "Negative-weight cycle exists"</a:t>
            </a:r>
            <a:endParaRPr lang="en-US" sz="1600" dirty="0"/>
          </a:p>
          <a:p>
            <a:pPr algn="l" indent="0" marL="0">
              <a:lnSpc>
                <a:spcPct val="96000"/>
              </a:lnSpc>
              <a:buNone/>
            </a:pPr>
            <a:r>
              <a:rPr lang="en-US" sz="16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dist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1137891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COMPLEXITY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1076933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Time is O(V × E); auxiliary space is O(V)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1182" y="1813620"/>
            <a:ext cx="6187325" cy="4219277"/>
          </a:xfrm>
          <a:prstGeom prst="roundRect">
            <a:avLst>
              <a:gd name="adj" fmla="val 993"/>
            </a:avLst>
          </a:prstGeom>
          <a:noFill/>
          <a:ln w="38099">
            <a:solidFill>
              <a:srgbClr val="E0C1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876" y="2139057"/>
            <a:ext cx="5653938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200" spc="-10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O(V × E)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77876" y="3021072"/>
            <a:ext cx="592063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Time complexity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77876" y="3560127"/>
            <a:ext cx="5653938" cy="1132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Relaxation scans all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edges up to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times. One additional scan checks for a reachable negative-weight cycle.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4992" y="3590925"/>
            <a:ext cx="251017" cy="34657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504" y="3590925"/>
            <a:ext cx="723783" cy="3465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55596" y="2089845"/>
            <a:ext cx="412481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8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O(V)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7355596" y="2855972"/>
            <a:ext cx="4124817" cy="1131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Auxiliary space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for distance values and related per-vertex state, excluding graph storage.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355596" y="4284861"/>
            <a:ext cx="4124817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8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O(E)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7355596" y="5050988"/>
            <a:ext cx="4124817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Additional graph storage with an edge-list representation.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1137891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TRADE-OFFS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10769331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Bellman–Ford trades speed for flexibility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1182" y="1813620"/>
            <a:ext cx="5156071" cy="6128941"/>
          </a:xfrm>
          <a:prstGeom prst="roundRect">
            <a:avLst>
              <a:gd name="adj" fmla="val 813"/>
            </a:avLst>
          </a:prstGeom>
          <a:noFill/>
          <a:ln w="38099">
            <a:solidFill>
              <a:srgbClr val="E0C1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876" y="2086670"/>
            <a:ext cx="4622684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Advantages</a:t>
            </a:r>
            <a:endParaRPr lang="en-US" sz="2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876" y="2693114"/>
            <a:ext cx="558786" cy="55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6055" y="2694047"/>
            <a:ext cx="378450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Supports negative edge weights.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76" y="3599775"/>
            <a:ext cx="558786" cy="55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16055" y="3600708"/>
            <a:ext cx="378450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Detects reachable negative-weight cycles.</a:t>
            </a:r>
            <a:endParaRPr lang="en-US" sz="2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76" y="4506436"/>
            <a:ext cx="558786" cy="558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16055" y="4507369"/>
            <a:ext cx="378450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Simple to implement.</a:t>
            </a:r>
            <a:endParaRPr lang="en-US" sz="2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876" y="5035967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16055" y="5036899"/>
            <a:ext cx="378450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Works for directed weighted graphs.</a:t>
            </a:r>
            <a:endParaRPr lang="en-US" sz="2200" dirty="0"/>
          </a:p>
        </p:txBody>
      </p:sp>
      <p:sp>
        <p:nvSpPr>
          <p:cNvPr id="14" name="Shape 8"/>
          <p:cNvSpPr/>
          <p:nvPr/>
        </p:nvSpPr>
        <p:spPr>
          <a:xfrm>
            <a:off x="6324442" y="1813620"/>
            <a:ext cx="5156071" cy="6128941"/>
          </a:xfrm>
          <a:prstGeom prst="roundRect">
            <a:avLst>
              <a:gd name="adj" fmla="val 813"/>
            </a:avLst>
          </a:prstGeom>
          <a:noFill/>
          <a:ln w="38099">
            <a:solidFill>
              <a:srgbClr val="E0C1B7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591135" y="2086670"/>
            <a:ext cx="4622684" cy="412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Limitations and applications</a:t>
            </a:r>
            <a:endParaRPr lang="en-US" sz="2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135" y="2693114"/>
            <a:ext cx="558786" cy="558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29314" y="2694047"/>
            <a:ext cx="378450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Usually slower than Dijkstra on nonnegative-weight graphs.</a:t>
            </a:r>
            <a:endParaRPr lang="en-US" sz="2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135" y="3599775"/>
            <a:ext cx="558786" cy="5588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9314" y="3600708"/>
            <a:ext cx="378450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May perform many relaxations on large graphs.</a:t>
            </a:r>
            <a:endParaRPr lang="en-US" sz="2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135" y="4506436"/>
            <a:ext cx="558786" cy="5588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29314" y="4507369"/>
            <a:ext cx="378450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 reachable negative cycle means finite shortest distances do not exist for vertices reachable from it.</a:t>
            </a:r>
            <a:endParaRPr lang="en-US" sz="2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135" y="6167358"/>
            <a:ext cx="558786" cy="5588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429314" y="6168291"/>
            <a:ext cx="3784505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Used in network routing, arbitrage-detection concepts, graph optimization, and weighted-transition systems.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29456"/>
            <a:ext cx="5836794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TAKEAWAY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1182" y="1123760"/>
            <a:ext cx="5227209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00" spc="-6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Three ideas to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1182" y="1908473"/>
            <a:ext cx="272349" cy="272355"/>
          </a:xfrm>
          <a:prstGeom prst="ellipse">
            <a:avLst/>
          </a:prstGeom>
          <a:solidFill>
            <a:srgbClr val="B83C16"/>
          </a:solidFill>
          <a:ln/>
        </p:spPr>
      </p:sp>
      <p:sp>
        <p:nvSpPr>
          <p:cNvPr id="5" name="Text 3"/>
          <p:cNvSpPr/>
          <p:nvPr/>
        </p:nvSpPr>
        <p:spPr>
          <a:xfrm>
            <a:off x="811490" y="1966020"/>
            <a:ext cx="68131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35927" y="1814572"/>
            <a:ext cx="480246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Finds single-source shortest paths.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1182" y="2438003"/>
            <a:ext cx="272349" cy="272355"/>
          </a:xfrm>
          <a:prstGeom prst="ellipse">
            <a:avLst/>
          </a:prstGeom>
          <a:solidFill>
            <a:srgbClr val="B83C16"/>
          </a:solidFill>
          <a:ln/>
        </p:spPr>
      </p:sp>
      <p:sp>
        <p:nvSpPr>
          <p:cNvPr id="8" name="Text 6"/>
          <p:cNvSpPr/>
          <p:nvPr/>
        </p:nvSpPr>
        <p:spPr>
          <a:xfrm>
            <a:off x="800675" y="2495550"/>
            <a:ext cx="70284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5927" y="2344102"/>
            <a:ext cx="480246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Handles negative edge weights.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11182" y="2967534"/>
            <a:ext cx="272349" cy="272355"/>
          </a:xfrm>
          <a:prstGeom prst="ellipse">
            <a:avLst/>
          </a:prstGeom>
          <a:solidFill>
            <a:srgbClr val="B83C16"/>
          </a:solidFill>
          <a:ln/>
        </p:spPr>
      </p:sp>
      <p:sp>
        <p:nvSpPr>
          <p:cNvPr id="11" name="Text 9"/>
          <p:cNvSpPr/>
          <p:nvPr/>
        </p:nvSpPr>
        <p:spPr>
          <a:xfrm>
            <a:off x="799286" y="3025080"/>
            <a:ext cx="70562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3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35927" y="2873633"/>
            <a:ext cx="4802464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Detects reachable negative-weight cycles.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11182" y="3874195"/>
            <a:ext cx="272349" cy="272355"/>
          </a:xfrm>
          <a:prstGeom prst="ellipse">
            <a:avLst/>
          </a:prstGeom>
          <a:solidFill>
            <a:srgbClr val="B83C16"/>
          </a:solidFill>
          <a:ln/>
        </p:spPr>
      </p:sp>
      <p:sp>
        <p:nvSpPr>
          <p:cNvPr id="14" name="Text 12"/>
          <p:cNvSpPr/>
          <p:nvPr/>
        </p:nvSpPr>
        <p:spPr>
          <a:xfrm>
            <a:off x="797996" y="3931741"/>
            <a:ext cx="70830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35927" y="3780294"/>
            <a:ext cx="4802464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Runs in </a:t>
            </a:r>
            <a:pPr algn="l" indent="0" marL="0">
              <a:lnSpc>
                <a:spcPct val="113000"/>
              </a:lnSpc>
              <a:buNone/>
            </a:pPr>
            <a:r>
              <a:rPr lang="en-US" sz="2100" i="1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     </a:t>
            </a:r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time.</a:t>
            </a:r>
            <a:endParaRPr lang="en-US" sz="2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220" y="3811091"/>
            <a:ext cx="1232861" cy="34657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1182" y="5004495"/>
            <a:ext cx="5227209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200" spc="-84" kern="100" dirty="0">
                <a:solidFill>
                  <a:srgbClr val="12192B"/>
                </a:solidFill>
                <a:latin typeface="Sora ExtraBold" pitchFamily="34" charset="0"/>
                <a:ea typeface="Sora ExtraBold" pitchFamily="34" charset="-122"/>
                <a:cs typeface="Sora ExtraBold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711182" y="5770622"/>
            <a:ext cx="583679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12192B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817845" y="4601666"/>
            <a:ext cx="366266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137A6B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Green paths</a:t>
            </a:r>
            <a:pPr algn="l" indent="0" marL="0">
              <a:lnSpc>
                <a:spcPct val="104000"/>
              </a:lnSpc>
              <a:buNone/>
            </a:pPr>
            <a:r>
              <a:rPr lang="en-US" sz="1700" spc="34" kern="100" dirty="0">
                <a:solidFill>
                  <a:srgbClr val="4B556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 show the final shortest route.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 rot="20160000">
            <a:off x="8550359" y="3179365"/>
            <a:ext cx="1017364" cy="20340"/>
          </a:xfrm>
          <a:prstGeom prst="line">
            <a:avLst/>
          </a:prstGeom>
          <a:solidFill>
            <a:srgbClr val="D9471A"/>
          </a:solidFill>
          <a:ln w="50800">
            <a:solidFill>
              <a:srgbClr val="137A6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rot="1440000">
            <a:off x="9567722" y="2609652"/>
            <a:ext cx="1017364" cy="20340"/>
          </a:xfrm>
          <a:prstGeom prst="line">
            <a:avLst/>
          </a:prstGeom>
          <a:solidFill>
            <a:srgbClr val="D9471A"/>
          </a:solidFill>
          <a:ln w="50800">
            <a:solidFill>
              <a:srgbClr val="137A6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rot="20160000">
            <a:off x="9567722" y="3749179"/>
            <a:ext cx="1017364" cy="20340"/>
          </a:xfrm>
          <a:prstGeom prst="line">
            <a:avLst/>
          </a:prstGeom>
          <a:solidFill>
            <a:srgbClr val="D9471A"/>
          </a:solidFill>
          <a:ln w="50800">
            <a:solidFill>
              <a:srgbClr val="137A6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06188" y="2935188"/>
            <a:ext cx="488342" cy="48835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23551" y="2365474"/>
            <a:ext cx="488342" cy="48835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23551" y="3505002"/>
            <a:ext cx="488342" cy="48835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40915" y="2935188"/>
            <a:ext cx="488342" cy="48835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7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7134" y="3047212"/>
            <a:ext cx="100645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064497" y="2477498"/>
            <a:ext cx="100645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064497" y="3617025"/>
            <a:ext cx="100645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B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0081861" y="3047212"/>
            <a:ext cx="1006450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219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2026-10-19T10:15:17Z</dcterms:created>
  <dcterms:modified xsi:type="dcterms:W3CDTF">2026-10-19T10:15:17Z</dcterms:modified>
</cp:coreProperties>
</file>